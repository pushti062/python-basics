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Churn</c:v>
                  </c:pt>
                  <c:pt idx="1">
                    <c:v>Churn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6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0.667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0.833</c:v>
                </c:pt>
                <c:pt idx="1">
                  <c:v>1</c:v>
                </c:pt>
                <c:pt idx="2">
                  <c:v>0.5</c:v>
                </c:pt>
                <c:pt idx="3">
                  <c:v>0.667</c:v>
                </c:pt>
                <c:pt idx="4">
                  <c:v>0.75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6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0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6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tenure</c:v>
                  </c:pt>
                  <c:pt idx="1">
                    <c:v>TotalCharges</c:v>
                  </c:pt>
                  <c:pt idx="2">
                    <c:v>OnlineSecurity_Yes</c:v>
                  </c:pt>
                  <c:pt idx="3">
                    <c:v>MonthlyCharges</c:v>
                  </c:pt>
                  <c:pt idx="4">
                    <c:v>PaymentMethod_Electronic check</c:v>
                  </c:pt>
                  <c:pt idx="5">
                    <c:v>Contract_One year</c:v>
                  </c:pt>
                  <c:pt idx="6">
                    <c:v>OnlineBackup_Yes</c:v>
                  </c:pt>
                  <c:pt idx="7">
                    <c:v>PaperlessBilling_Yes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0.207</c:v>
                </c:pt>
                <c:pt idx="1">
                  <c:v>0.189</c:v>
                </c:pt>
                <c:pt idx="2">
                  <c:v>0.07</c:v>
                </c:pt>
                <c:pt idx="3">
                  <c:v>0.066</c:v>
                </c:pt>
                <c:pt idx="4">
                  <c:v>0.053</c:v>
                </c:pt>
                <c:pt idx="5">
                  <c:v>0.051</c:v>
                </c:pt>
                <c:pt idx="6">
                  <c:v>0.045</c:v>
                </c:pt>
                <c:pt idx="7">
                  <c:v>0.045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6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F3C7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96167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(DATA SCIENCE) — MACHINE LEARNING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which telecom customers are likely to leave, using Logistic Regression and Random Forest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20116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05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Pushti Jarodiya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 251433146003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CSE (Data Science) — Semester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L. J. Institute of Engineering and Technology, Ahmedabad (GTU)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93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providers lose recurring revenue every time a customer cancels their service. Identifying customers who are likely to churn — before they leave — lets a business step in early with retention offers or support.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predict, from account and usage data, whether a given customer will churn?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7960" y="265176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5328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raw customer-account data for modeling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324612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1272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churn patterns across contract type, tenure and billing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384048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7216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Logistic Regression and Random Forest classifiers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443484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431596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on accuracy, precision, recall, F1 and ROC-AUC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502920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91032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features that most influence churn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562356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55046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trained model for reuse on new customers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7F7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0128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7F7F9"/>
          </a:solidFill>
          <a:ln/>
        </p:spPr>
      </p:sp>
      <p:sp>
        <p:nvSpPr>
          <p:cNvPr id="8" name="Text 6"/>
          <p:cNvSpPr/>
          <p:nvPr/>
        </p:nvSpPr>
        <p:spPr>
          <a:xfrm>
            <a:off x="3310128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10128" y="2514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71616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7F7F9"/>
          </a:solidFill>
          <a:ln/>
        </p:spPr>
      </p:sp>
      <p:sp>
        <p:nvSpPr>
          <p:cNvPr id="11" name="Text 9"/>
          <p:cNvSpPr/>
          <p:nvPr/>
        </p:nvSpPr>
        <p:spPr>
          <a:xfrm>
            <a:off x="6071616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63.3%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71616" y="2514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churned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33104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833104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36.7%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833104" y="2514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customer_churn.csv — key columns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849624"/>
            <a:ext cx="109728" cy="1097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3075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gender, SeniorCitizen, Partner, Dependents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70248"/>
            <a:ext cx="109728" cy="1097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5137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tenure, Contract, PaperlessBilling, PaymentMethod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90872"/>
            <a:ext cx="109728" cy="1097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572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PhoneService, InternetService, OnlineSecurity, TechSupport, Streaming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11496"/>
            <a:ext cx="109728" cy="1097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99262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MonthlyCharges, TotalCharges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09728" cy="1097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41324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Churn (Yes / No)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6656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Distribution</a:t>
            </a:r>
            <a:endParaRPr lang="en-US" sz="15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675120" y="3703320"/>
          <a:ext cx="48463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Inspect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953512"/>
            <a:ext cx="2258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CSV, check shape, dtypes and nulls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78308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7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3493008" y="19659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93008" y="253288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Data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93008" y="2953512"/>
            <a:ext cx="2258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duplicates, fix TotalCharges, drop customerID, drop nulls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178308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7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254496" y="19659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54496" y="253288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 Target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54496" y="2953512"/>
            <a:ext cx="2258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Churn: Yes→1, No→0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33104" y="178308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7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19659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9015984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15984" y="253288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(EDA)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015984" y="2953512"/>
            <a:ext cx="2258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 contract, tenure, monthly charges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7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472744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Encoding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1520" y="5148072"/>
            <a:ext cx="2258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categoricals (get_dummies)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0128" y="397764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7F7F9"/>
          </a:solidFill>
          <a:ln/>
        </p:spPr>
      </p:sp>
      <p:sp>
        <p:nvSpPr>
          <p:cNvPr id="30" name="Shape 28"/>
          <p:cNvSpPr/>
          <p:nvPr/>
        </p:nvSpPr>
        <p:spPr>
          <a:xfrm>
            <a:off x="3493008" y="4160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3493008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93008" y="472744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&amp; Scale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493008" y="5148072"/>
            <a:ext cx="2258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split; StandardScaler for Logistic Regression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71616" y="397764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7F7F9"/>
          </a:solidFill>
          <a:ln/>
        </p:spPr>
      </p:sp>
      <p:sp>
        <p:nvSpPr>
          <p:cNvPr id="35" name="Shape 33"/>
          <p:cNvSpPr/>
          <p:nvPr/>
        </p:nvSpPr>
        <p:spPr>
          <a:xfrm>
            <a:off x="6254496" y="4160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6254496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54496" y="472744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Models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254496" y="5148072"/>
            <a:ext cx="2258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Random Forest (200 trees, balanced)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33104" y="3977640"/>
            <a:ext cx="2624328" cy="1965960"/>
          </a:xfrm>
          <a:prstGeom prst="roundRect">
            <a:avLst>
              <a:gd name="adj" fmla="val 4651"/>
            </a:avLst>
          </a:prstGeom>
          <a:solidFill>
            <a:srgbClr val="F7F7F9"/>
          </a:solidFill>
          <a:ln/>
        </p:spPr>
      </p:sp>
      <p:sp>
        <p:nvSpPr>
          <p:cNvPr id="40" name="Shape 38"/>
          <p:cNvSpPr/>
          <p:nvPr/>
        </p:nvSpPr>
        <p:spPr>
          <a:xfrm>
            <a:off x="9015984" y="4160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1" name="Text 39"/>
          <p:cNvSpPr/>
          <p:nvPr/>
        </p:nvSpPr>
        <p:spPr>
          <a:xfrm>
            <a:off x="9015984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15984" y="472744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Save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015984" y="5148072"/>
            <a:ext cx="2258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metrics; export model with joblib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relationships were visualised against Churn before modeling: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7F7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317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far more often than customers on one- or two-year contracts — contract length is a strong retention signal.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9976" y="205740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4654296" y="23317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54296" y="30632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54296" y="361188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churn tend to have shorter tenure. Long-standing customers are markedly less likely to leave.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11312" y="205740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7F7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485632" y="23317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85632" y="30632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Charges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85632" y="361188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higher monthly charges show a greater tendency to churn than those on lower-priced plans.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Applied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440680" cy="8229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907792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76148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classifier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566160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4198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standardized (StandardScaler)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224528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07822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1000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882896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73659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churn probability directly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99632" y="173736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7F7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9632" y="1737360"/>
            <a:ext cx="5440680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17373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73952" y="290779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76148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 decision trees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73952" y="356616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4198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'balanced' for class imbalance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73952" y="422452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07822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unscaled features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73952" y="488289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73659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yields feature importance ranking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406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73736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458200" y="2011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58200" y="23317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458200" y="29718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(83.3% vs 66.7%)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precision on this test split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recall &amp; ROC-AUC as Logistic Regression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as the final, saved model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58200" y="50749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9B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evaluated on a small 30-row sample dataset — a larger dataset would give more reliable metrics.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Churn Predictions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by Random Forest importance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F3C7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1284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and total charges are the strongest predictors of churn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99816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96265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Month-to-month, high-charge, short-tenure customers are the highest-risk group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71246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outperformed Logistic Regression on this dataset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9943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446227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was saved (joblib) for reuse on new customers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235000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601968" y="221284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full customer base rather than a small sample for reliable metrics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09981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296265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(GridSearchCV) and try gradient boosting models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8496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601968" y="371246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 imbalance further with SMOTE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59943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601968" y="446227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saved model behind a simple API for real-time scoring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669280"/>
            <a:ext cx="11064240" cy="0"/>
          </a:xfrm>
          <a:prstGeom prst="line">
            <a:avLst/>
          </a:prstGeom>
          <a:noFill/>
          <a:ln w="12700">
            <a:solidFill>
              <a:srgbClr val="3B47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Pushti Jarodiya  |  251433146003  |  New LJIET (GTU)  |  Customer Churn Prediction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